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0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3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2"/>
  </p:normalViewPr>
  <p:slideViewPr>
    <p:cSldViewPr snapToGrid="0">
      <p:cViewPr varScale="1">
        <p:scale>
          <a:sx n="47" d="100"/>
          <a:sy n="47" d="100"/>
        </p:scale>
        <p:origin x="67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71756-1CA1-1F4A-9860-0C578ADBAF67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BC4798-3E81-C549-995C-77B1554192F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107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BC4798-3E81-C549-995C-77B1554192F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9385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0466C6-D91C-612D-DA31-9E70D744F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CD3D7-66B5-7A01-561D-959D48193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66A04E-ABEF-3601-42E9-9B477D0B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C89636-8607-E245-7ECA-8B404826E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DA640A-1483-A175-E2F8-B21F00EFC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393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2D482-88F1-6717-4507-1DE895ECA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D43E56-1659-8101-3D89-60600B4C0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7DD31E-3985-01D7-0E5F-F66C2489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C0CCE0-F676-AD11-9EA0-68258B2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72DC9F-3C1D-47DC-41F5-F6AE3027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073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D8C90-560A-3629-A0D4-D6E8C44C7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138E69-8963-2191-B74D-B295CE6F3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BF81C-82F0-ABCA-4411-C9CD9BF8A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6153DF-4EB7-8F85-F619-B1A8C4EC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0E5481-19BA-D126-98F1-EDE7542F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8916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FEAAB-E2D6-B04D-F21A-A7FDB53B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D809E2-B9AF-2CC2-3873-A4B1DAB10F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3127D2-49B9-6F49-74BB-C98192025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0A90FD-A1AE-B7F6-81CB-17798777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78F9F5-0A1E-A896-2C1A-AE9CD730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6A06C3-7D3A-4ED7-59A8-01C9CFF3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203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86E5E4-7599-22FB-83D9-5A321276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F06F6-6079-87FD-923F-A8DBB0BF0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E1C3B8-3FB7-57C0-92C0-AD7DA2D1C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734399-EEE2-0BDB-3597-6E0EA6B1C2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15EE561-E076-283F-19C9-16E995E5DA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BD6D0E1-46F0-417B-BBFA-8FE7878A2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CA9F49-6797-27A1-E809-F10A247A3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1381D6-1B43-9D34-6E2B-108FB648A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71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74EC2-1ED8-A8BE-7D66-107A23C5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7DCC2C-4B63-4FB8-9322-4A64CB4BD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E22530-1FC8-B14B-0E1E-CEA3D630F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2E5EA7A-7139-4574-C0F9-E5653C681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181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6332C7-6C6F-7318-1DA3-D4E85FFC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DFEC246-9AE0-1F5E-E4B7-E80EA35B1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31218E-7297-74DF-6460-D04F62CC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1058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140EDF-D8B0-6EA9-3600-79C331F0A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3412F3-88BC-3976-CE11-CED35673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0C5784-692F-8C9A-96B5-9C6C828B6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65CF43-DB51-7DDD-DBC1-89F22FBF3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C18DF2A-4A52-511F-887D-751FECB8D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9AA898-418D-84EB-B1A4-EF383D80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6142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D255D-23DB-16FF-6E59-4E8B7BB0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EACFC9F-98E3-3872-EF0E-718C6AAD0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1FCD44-D0F2-7EE0-983E-1A770EA7B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984F3-2762-30BA-041E-CEE510365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FB9C9C-1999-72D6-E7F1-5AF8D2EB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093609-A228-8DC9-D8BE-C785A4D5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401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4860E-4631-00B1-84EE-47A0882EE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0C4EC56-B0B7-FB8C-9229-852C47F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BBC8E-447F-B6D6-FE12-BF37EE0C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EEBC50-F25A-043B-E54D-44514D18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4EF87-17C1-3FBF-1BDE-38B4C4EEE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176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EEA9864-C820-6713-3E0A-1A47F92DB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82EF4C3-B55D-39DD-8B6B-0B53F4631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150FF3-021C-FBD7-9BD4-3CA04F07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6EF010-39D0-4175-3885-7C66710A7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95371A-7C71-061D-DDBB-0EC503FB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76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4655F9-7A55-B7B8-8B75-F136D069E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40F63F-E1AB-2FF3-2E2E-4C60B3779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7F6D55-93D5-4B87-BF01-5334CC51B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10A85-4D4F-F042-95AD-B4092DC44AD3}" type="datetimeFigureOut">
              <a:rPr lang="es-ES" smtClean="0"/>
              <a:t>09/12/2025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68E077-F5F1-A5B0-D94C-4A846BB4A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49A032-604E-9B53-BF91-E6A6B9C81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7431F-60F5-E745-8494-FFD96EF32E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670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470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A565BB0-67FC-F007-2424-319770A9FFED}"/>
              </a:ext>
            </a:extLst>
          </p:cNvPr>
          <p:cNvSpPr txBox="1"/>
          <p:nvPr/>
        </p:nvSpPr>
        <p:spPr>
          <a:xfrm>
            <a:off x="4485062" y="1443841"/>
            <a:ext cx="718986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5400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SmartPlant</a:t>
            </a:r>
            <a:r>
              <a:rPr lang="es-CO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: Sistema </a:t>
            </a:r>
            <a:r>
              <a:rPr lang="es-CO" sz="5400" dirty="0" err="1">
                <a:solidFill>
                  <a:schemeClr val="bg1"/>
                </a:solidFill>
                <a:latin typeface="Franklin Gothic Medium" panose="020B0603020102020204" pitchFamily="34" charset="0"/>
              </a:rPr>
              <a:t>IoT</a:t>
            </a:r>
            <a:r>
              <a:rPr lang="es-CO" sz="5400" dirty="0">
                <a:solidFill>
                  <a:schemeClr val="bg1"/>
                </a:solidFill>
                <a:latin typeface="Franklin Gothic Medium" panose="020B0603020102020204" pitchFamily="34" charset="0"/>
              </a:rPr>
              <a:t> Semántico para Monitoreo de Plantas de Interior</a:t>
            </a:r>
          </a:p>
          <a:p>
            <a:r>
              <a:rPr lang="es-CO" sz="3600" dirty="0">
                <a:solidFill>
                  <a:schemeClr val="bg1"/>
                </a:solidFill>
                <a:latin typeface="Franklin Gothic Book" panose="020B0503020102020204" pitchFamily="34" charset="0"/>
              </a:rPr>
              <a:t>Santiago Dorado Gomez</a:t>
            </a:r>
          </a:p>
        </p:txBody>
      </p:sp>
    </p:spTree>
    <p:extLst>
      <p:ext uri="{BB962C8B-B14F-4D97-AF65-F5344CB8AC3E}">
        <p14:creationId xmlns:p14="http://schemas.microsoft.com/office/powerpoint/2010/main" val="407625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Desarrollo de una </a:t>
            </a:r>
            <a:r>
              <a:rPr lang="es-ES" b="1" dirty="0"/>
              <a:t>aplicación </a:t>
            </a:r>
            <a:r>
              <a:rPr lang="es-ES" b="1" dirty="0" err="1"/>
              <a:t>IoT</a:t>
            </a:r>
            <a:r>
              <a:rPr lang="es-ES" b="1" dirty="0"/>
              <a:t> semántica</a:t>
            </a:r>
            <a:r>
              <a:rPr lang="es-ES" dirty="0"/>
              <a:t> para monitorear el estado de una planta de interior.</a:t>
            </a:r>
          </a:p>
          <a:p>
            <a:r>
              <a:rPr lang="es-ES" dirty="0"/>
              <a:t>Nodo sensor basado en </a:t>
            </a:r>
            <a:r>
              <a:rPr lang="es-ES" b="1" dirty="0"/>
              <a:t>ESP32 + DHT11 + LDR</a:t>
            </a:r>
            <a:r>
              <a:rPr lang="es-ES" dirty="0"/>
              <a:t>, que mide temperatura, humedad y nivel de luz.</a:t>
            </a:r>
          </a:p>
          <a:p>
            <a:r>
              <a:rPr lang="es-ES" dirty="0"/>
              <a:t>Los datos se envían a un </a:t>
            </a:r>
            <a:r>
              <a:rPr lang="es-ES" b="1" dirty="0" err="1"/>
              <a:t>backend</a:t>
            </a:r>
            <a:r>
              <a:rPr lang="es-ES" b="1" dirty="0"/>
              <a:t> en </a:t>
            </a:r>
            <a:r>
              <a:rPr lang="es-ES" b="1" dirty="0" err="1"/>
              <a:t>Flask</a:t>
            </a:r>
            <a:r>
              <a:rPr lang="es-ES" dirty="0"/>
              <a:t> vía HTTP y MQTT, donde se estructuran con </a:t>
            </a:r>
            <a:r>
              <a:rPr lang="es-ES" b="1" dirty="0"/>
              <a:t>SSN/SOSA</a:t>
            </a:r>
            <a:r>
              <a:rPr lang="es-ES" dirty="0"/>
              <a:t> y </a:t>
            </a:r>
            <a:r>
              <a:rPr lang="es-ES" dirty="0" err="1"/>
              <a:t>SensorThings</a:t>
            </a:r>
            <a:r>
              <a:rPr lang="es-ES" dirty="0"/>
              <a:t>.</a:t>
            </a:r>
          </a:p>
          <a:p>
            <a:r>
              <a:rPr lang="es-ES" dirty="0"/>
              <a:t>Un </a:t>
            </a:r>
            <a:r>
              <a:rPr lang="es-ES" b="1" dirty="0" err="1"/>
              <a:t>dashboard</a:t>
            </a:r>
            <a:r>
              <a:rPr lang="es-ES" b="1" dirty="0"/>
              <a:t> web</a:t>
            </a:r>
            <a:r>
              <a:rPr lang="es-ES" dirty="0"/>
              <a:t> muestra lecturas en tiempo real, estados semánticos (bajo/ideal/alto) y </a:t>
            </a:r>
            <a:r>
              <a:rPr lang="es-ES" b="1" dirty="0"/>
              <a:t>recomendaciones automáticas</a:t>
            </a:r>
            <a:r>
              <a:rPr lang="es-ES" dirty="0"/>
              <a:t> de cuidado.</a:t>
            </a:r>
          </a:p>
          <a:p>
            <a:r>
              <a:rPr lang="es-ES" dirty="0"/>
              <a:t>El foco está en una solución </a:t>
            </a:r>
            <a:r>
              <a:rPr lang="es-ES" b="1" dirty="0"/>
              <a:t>sencilla, extensible</a:t>
            </a:r>
            <a:r>
              <a:rPr lang="es-ES" dirty="0"/>
              <a:t> y alineada con los objetivos del curso de Web Semántica e </a:t>
            </a:r>
            <a:r>
              <a:rPr lang="es-ES" dirty="0" err="1"/>
              <a:t>IoT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83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 err="1">
                <a:solidFill>
                  <a:srgbClr val="143393"/>
                </a:solidFill>
                <a:latin typeface="Franklin Gothic Medium" panose="020B0603020102020204" pitchFamily="34" charset="0"/>
              </a:rPr>
              <a:t>Requeriemiento</a:t>
            </a:r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 de Usuario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>
            <a:normAutofit fontScale="85000" lnSpcReduction="10000"/>
          </a:bodyPr>
          <a:lstStyle/>
          <a:p>
            <a:r>
              <a:rPr lang="es-ES" b="1" dirty="0"/>
              <a:t>RF01</a:t>
            </a:r>
            <a:r>
              <a:rPr lang="es-ES" dirty="0"/>
              <a:t>: Registrar una planta indicando nombre, ubicación en la casa, tipo de planta y frecuencia de muestreo.</a:t>
            </a:r>
          </a:p>
          <a:p>
            <a:r>
              <a:rPr lang="es-ES" b="1" dirty="0"/>
              <a:t>RF02</a:t>
            </a:r>
            <a:r>
              <a:rPr lang="es-ES" dirty="0"/>
              <a:t>: Visualizar en el </a:t>
            </a:r>
            <a:r>
              <a:rPr lang="es-ES" dirty="0" err="1"/>
              <a:t>dashboard</a:t>
            </a:r>
            <a:r>
              <a:rPr lang="es-ES" dirty="0"/>
              <a:t> las lecturas actuales de </a:t>
            </a:r>
            <a:r>
              <a:rPr lang="es-ES" b="1" dirty="0"/>
              <a:t>temperatura, humedad y nivel de luz</a:t>
            </a:r>
            <a:r>
              <a:rPr lang="es-ES" dirty="0"/>
              <a:t>, junto con su estado (bajo/ideal/alto).</a:t>
            </a:r>
          </a:p>
          <a:p>
            <a:r>
              <a:rPr lang="es-ES" b="1" dirty="0"/>
              <a:t>RF03</a:t>
            </a:r>
            <a:r>
              <a:rPr lang="es-ES" dirty="0"/>
              <a:t>: Mostrar recomendaciones de cuidado basadas en el tipo de planta </a:t>
            </a:r>
          </a:p>
          <a:p>
            <a:r>
              <a:rPr lang="es-ES" b="1" dirty="0"/>
              <a:t>RF04</a:t>
            </a:r>
            <a:r>
              <a:rPr lang="es-ES" dirty="0"/>
              <a:t>: Gestionar </a:t>
            </a:r>
            <a:r>
              <a:rPr lang="es-ES" b="1" dirty="0"/>
              <a:t>múltiples plantas</a:t>
            </a:r>
            <a:r>
              <a:rPr lang="es-ES" dirty="0"/>
              <a:t> (guardar configuraciones y seleccionar una planta activa).</a:t>
            </a:r>
          </a:p>
          <a:p>
            <a:r>
              <a:rPr lang="es-ES" b="1" dirty="0"/>
              <a:t>RF05</a:t>
            </a:r>
            <a:r>
              <a:rPr lang="es-ES" dirty="0"/>
              <a:t>: Permitir cambiar la </a:t>
            </a:r>
            <a:r>
              <a:rPr lang="es-ES" b="1" dirty="0"/>
              <a:t>frecuencia de muestreo</a:t>
            </a:r>
            <a:r>
              <a:rPr lang="es-ES" dirty="0"/>
              <a:t> desde el </a:t>
            </a:r>
            <a:r>
              <a:rPr lang="es-ES" dirty="0" err="1"/>
              <a:t>frontend</a:t>
            </a:r>
            <a:r>
              <a:rPr lang="es-ES" dirty="0"/>
              <a:t> y que el ESP32 la actualice sin reprogramar.</a:t>
            </a:r>
          </a:p>
          <a:p>
            <a:r>
              <a:rPr lang="es-ES" b="1" dirty="0"/>
              <a:t>RF06</a:t>
            </a:r>
            <a:r>
              <a:rPr lang="es-ES" dirty="0"/>
              <a:t>: Indicar claramente si el nodo </a:t>
            </a:r>
            <a:r>
              <a:rPr lang="es-ES" b="1" dirty="0"/>
              <a:t>ESP32 está conectado o desconectado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89128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Arquitectura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904"/>
            <a:ext cx="10478729" cy="466765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b="1" dirty="0"/>
              <a:t>Nodo Sensor (ESP32)</a:t>
            </a:r>
          </a:p>
          <a:p>
            <a:pPr lvl="1"/>
            <a:r>
              <a:rPr lang="es-CO" dirty="0"/>
              <a:t>Lee DHT11 (temperatura y humedad) y LDR (nivel de luz).</a:t>
            </a:r>
          </a:p>
          <a:p>
            <a:pPr lvl="1"/>
            <a:r>
              <a:rPr lang="es-CO" dirty="0"/>
              <a:t>Enciende </a:t>
            </a:r>
            <a:r>
              <a:rPr lang="es-CO" dirty="0" err="1"/>
              <a:t>LEDs</a:t>
            </a:r>
            <a:r>
              <a:rPr lang="es-CO" dirty="0"/>
              <a:t> (verde/amarillo/rojo) según umbrales locales.</a:t>
            </a:r>
          </a:p>
          <a:p>
            <a:pPr lvl="1"/>
            <a:r>
              <a:rPr lang="es-CO" dirty="0"/>
              <a:t>Envía observaciones en JSON por </a:t>
            </a:r>
            <a:r>
              <a:rPr lang="es-CO" b="1" dirty="0"/>
              <a:t>HTTP</a:t>
            </a:r>
            <a:r>
              <a:rPr lang="es-CO" dirty="0"/>
              <a:t> y </a:t>
            </a:r>
            <a:r>
              <a:rPr lang="es-CO" b="1" dirty="0"/>
              <a:t>MQTT</a:t>
            </a:r>
            <a:r>
              <a:rPr lang="es-CO" dirty="0"/>
              <a:t> al servidor.</a:t>
            </a:r>
            <a:endParaRPr lang="es-CO" b="1" dirty="0"/>
          </a:p>
          <a:p>
            <a:pPr marL="514350" indent="-514350">
              <a:buFont typeface="+mj-lt"/>
              <a:buAutoNum type="arabicPeriod"/>
            </a:pPr>
            <a:r>
              <a:rPr lang="es-CO" b="1" dirty="0" err="1"/>
              <a:t>Backend</a:t>
            </a:r>
            <a:r>
              <a:rPr lang="es-CO" b="1" dirty="0"/>
              <a:t> Semántico (</a:t>
            </a:r>
            <a:r>
              <a:rPr lang="es-CO" b="1" dirty="0" err="1"/>
              <a:t>Flask</a:t>
            </a:r>
            <a:r>
              <a:rPr lang="es-CO" b="1" dirty="0"/>
              <a:t>)</a:t>
            </a:r>
          </a:p>
          <a:p>
            <a:pPr lvl="1"/>
            <a:r>
              <a:rPr lang="es-CO" dirty="0"/>
              <a:t>Recibe lecturas vía /api/</a:t>
            </a:r>
            <a:r>
              <a:rPr lang="es-CO" dirty="0" err="1"/>
              <a:t>observations</a:t>
            </a:r>
            <a:r>
              <a:rPr lang="es-CO" dirty="0"/>
              <a:t> (HTTP) y tópico </a:t>
            </a:r>
            <a:r>
              <a:rPr lang="es-CO" dirty="0" err="1"/>
              <a:t>smartplant</a:t>
            </a:r>
            <a:r>
              <a:rPr lang="es-CO" dirty="0"/>
              <a:t>/</a:t>
            </a:r>
            <a:r>
              <a:rPr lang="es-CO" dirty="0" err="1"/>
              <a:t>observations</a:t>
            </a:r>
            <a:r>
              <a:rPr lang="es-CO" dirty="0"/>
              <a:t> (MQTT).</a:t>
            </a:r>
          </a:p>
          <a:p>
            <a:pPr lvl="1"/>
            <a:r>
              <a:rPr lang="es-CO" dirty="0"/>
              <a:t>Almacena histórico en JSON y genera un grafo RDF con </a:t>
            </a:r>
            <a:r>
              <a:rPr lang="es-CO" b="1" dirty="0"/>
              <a:t>SSN/SOSA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Expone </a:t>
            </a:r>
            <a:r>
              <a:rPr lang="es-CO" dirty="0" err="1"/>
              <a:t>endpoints</a:t>
            </a:r>
            <a:r>
              <a:rPr lang="es-CO" dirty="0"/>
              <a:t> REST (/api/</a:t>
            </a:r>
            <a:r>
              <a:rPr lang="es-CO" dirty="0" err="1"/>
              <a:t>observations</a:t>
            </a:r>
            <a:r>
              <a:rPr lang="es-CO" dirty="0"/>
              <a:t>/</a:t>
            </a:r>
            <a:r>
              <a:rPr lang="es-CO" dirty="0" err="1"/>
              <a:t>latest</a:t>
            </a:r>
            <a:r>
              <a:rPr lang="es-CO" dirty="0"/>
              <a:t>, /api/</a:t>
            </a:r>
            <a:r>
              <a:rPr lang="es-CO" dirty="0" err="1"/>
              <a:t>plants</a:t>
            </a:r>
            <a:r>
              <a:rPr lang="es-CO" dirty="0"/>
              <a:t>, /api/</a:t>
            </a:r>
            <a:r>
              <a:rPr lang="es-CO" dirty="0" err="1"/>
              <a:t>config</a:t>
            </a:r>
            <a:r>
              <a:rPr lang="es-CO" dirty="0"/>
              <a:t>, /api/</a:t>
            </a:r>
            <a:r>
              <a:rPr lang="es-CO" dirty="0" err="1"/>
              <a:t>device</a:t>
            </a:r>
            <a:r>
              <a:rPr lang="es-CO" dirty="0"/>
              <a:t>, etc.).</a:t>
            </a:r>
            <a:endParaRPr lang="es-CO" b="1" dirty="0"/>
          </a:p>
          <a:p>
            <a:pPr marL="514350" indent="-514350">
              <a:buFont typeface="+mj-lt"/>
              <a:buAutoNum type="arabicPeriod"/>
            </a:pPr>
            <a:r>
              <a:rPr lang="es-CO" b="1" dirty="0" err="1"/>
              <a:t>Dashboard</a:t>
            </a:r>
            <a:r>
              <a:rPr lang="es-CO" b="1" dirty="0"/>
              <a:t> Web (</a:t>
            </a:r>
            <a:r>
              <a:rPr lang="es-CO" b="1" dirty="0" err="1"/>
              <a:t>Frontend</a:t>
            </a:r>
            <a:r>
              <a:rPr lang="es-CO" b="1" dirty="0"/>
              <a:t>)</a:t>
            </a:r>
          </a:p>
          <a:p>
            <a:pPr lvl="1"/>
            <a:r>
              <a:rPr lang="es-CO" dirty="0"/>
              <a:t>Interfaz HTML/CSS/JS con </a:t>
            </a:r>
            <a:r>
              <a:rPr lang="es-CO" b="1" dirty="0"/>
              <a:t>Chart.js</a:t>
            </a:r>
            <a:r>
              <a:rPr lang="es-CO" dirty="0"/>
              <a:t> para gráficos.</a:t>
            </a:r>
          </a:p>
          <a:p>
            <a:pPr lvl="1"/>
            <a:r>
              <a:rPr lang="es-CO" dirty="0"/>
              <a:t>Modal inicial de configuración de planta (obligatorio).</a:t>
            </a:r>
          </a:p>
          <a:p>
            <a:pPr lvl="1"/>
            <a:r>
              <a:rPr lang="es-CO" dirty="0"/>
              <a:t>Vistas: </a:t>
            </a:r>
            <a:r>
              <a:rPr lang="es-CO" b="1" dirty="0"/>
              <a:t>Inicio</a:t>
            </a:r>
            <a:r>
              <a:rPr lang="es-CO" dirty="0"/>
              <a:t> (estado actual), </a:t>
            </a:r>
            <a:r>
              <a:rPr lang="es-CO" b="1" dirty="0"/>
              <a:t>Planta</a:t>
            </a:r>
            <a:r>
              <a:rPr lang="es-CO" dirty="0"/>
              <a:t> (perfil semántico), </a:t>
            </a:r>
            <a:r>
              <a:rPr lang="es-CO" b="1" dirty="0"/>
              <a:t>Configuración</a:t>
            </a:r>
            <a:r>
              <a:rPr lang="es-CO" dirty="0"/>
              <a:t> (frecuencia y plantas guardadas).</a:t>
            </a:r>
          </a:p>
          <a:p>
            <a:pPr lvl="1"/>
            <a:endParaRPr lang="es-CO" dirty="0"/>
          </a:p>
          <a:p>
            <a:pPr marL="0" indent="0">
              <a:buNone/>
            </a:pPr>
            <a:r>
              <a:rPr lang="es-CO" dirty="0"/>
              <a:t>ESP32 / </a:t>
            </a:r>
            <a:r>
              <a:rPr lang="es-CO" dirty="0" err="1"/>
              <a:t>Frontend</a:t>
            </a:r>
            <a:r>
              <a:rPr lang="es-CO" dirty="0"/>
              <a:t> → </a:t>
            </a:r>
            <a:r>
              <a:rPr lang="es-CO" dirty="0" err="1"/>
              <a:t>Backend</a:t>
            </a:r>
            <a:r>
              <a:rPr lang="es-CO" dirty="0"/>
              <a:t>: patrón </a:t>
            </a:r>
            <a:r>
              <a:rPr lang="es-CO" b="1" dirty="0"/>
              <a:t>cliente–servidor</a:t>
            </a:r>
            <a:r>
              <a:rPr lang="es-CO" dirty="0"/>
              <a:t> (HTTP).</a:t>
            </a:r>
          </a:p>
          <a:p>
            <a:pPr marL="0" indent="0">
              <a:buNone/>
            </a:pPr>
            <a:r>
              <a:rPr lang="es-CO" dirty="0"/>
              <a:t>ESP32 → </a:t>
            </a:r>
            <a:r>
              <a:rPr lang="es-CO" dirty="0" err="1"/>
              <a:t>Mosquitto</a:t>
            </a:r>
            <a:r>
              <a:rPr lang="es-CO" dirty="0"/>
              <a:t> → </a:t>
            </a:r>
            <a:r>
              <a:rPr lang="es-CO" dirty="0" err="1"/>
              <a:t>Backend</a:t>
            </a:r>
            <a:r>
              <a:rPr lang="es-CO" dirty="0"/>
              <a:t>: patrón </a:t>
            </a:r>
            <a:r>
              <a:rPr lang="es-CO" b="1" dirty="0"/>
              <a:t>publicador–suscriptor</a:t>
            </a:r>
            <a:r>
              <a:rPr lang="es-CO" dirty="0"/>
              <a:t> (MQTT).</a:t>
            </a:r>
          </a:p>
          <a:p>
            <a:pPr lvl="1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67464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Protocolo de comunicación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20"/>
            <a:ext cx="10295238" cy="4351338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s-CO" b="1" dirty="0"/>
              <a:t>HTTP</a:t>
            </a:r>
          </a:p>
          <a:p>
            <a:pPr lvl="1"/>
            <a:r>
              <a:rPr lang="es-CO" dirty="0"/>
              <a:t>Usado en la relación </a:t>
            </a:r>
            <a:r>
              <a:rPr lang="es-CO" b="1" dirty="0"/>
              <a:t>ESP32 / </a:t>
            </a:r>
            <a:r>
              <a:rPr lang="es-CO" b="1" dirty="0" err="1"/>
              <a:t>Frontend</a:t>
            </a:r>
            <a:r>
              <a:rPr lang="es-CO" b="1" dirty="0"/>
              <a:t> ↔ </a:t>
            </a:r>
            <a:r>
              <a:rPr lang="es-CO" b="1" dirty="0" err="1"/>
              <a:t>Backend</a:t>
            </a:r>
            <a:r>
              <a:rPr lang="es-CO" b="1" dirty="0"/>
              <a:t> </a:t>
            </a:r>
            <a:r>
              <a:rPr lang="es-CO" b="1" dirty="0" err="1"/>
              <a:t>Flask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El ESP32 hace POST a /api/</a:t>
            </a:r>
            <a:r>
              <a:rPr lang="es-CO" dirty="0" err="1"/>
              <a:t>observations</a:t>
            </a:r>
            <a:r>
              <a:rPr lang="es-CO" dirty="0"/>
              <a:t> y GET a /api/</a:t>
            </a:r>
            <a:r>
              <a:rPr lang="es-CO" dirty="0" err="1"/>
              <a:t>config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El </a:t>
            </a:r>
            <a:r>
              <a:rPr lang="es-CO" dirty="0" err="1"/>
              <a:t>frontend</a:t>
            </a:r>
            <a:r>
              <a:rPr lang="es-CO" dirty="0"/>
              <a:t> consume /api/</a:t>
            </a:r>
            <a:r>
              <a:rPr lang="es-CO" dirty="0" err="1"/>
              <a:t>observations</a:t>
            </a:r>
            <a:r>
              <a:rPr lang="es-CO" dirty="0"/>
              <a:t>/</a:t>
            </a:r>
            <a:r>
              <a:rPr lang="es-CO" dirty="0" err="1"/>
              <a:t>latest</a:t>
            </a:r>
            <a:r>
              <a:rPr lang="es-CO" dirty="0"/>
              <a:t>, /api/</a:t>
            </a:r>
            <a:r>
              <a:rPr lang="es-CO" dirty="0" err="1"/>
              <a:t>recommendations</a:t>
            </a:r>
            <a:r>
              <a:rPr lang="es-CO" dirty="0"/>
              <a:t>/</a:t>
            </a:r>
            <a:r>
              <a:rPr lang="es-CO" dirty="0" err="1"/>
              <a:t>latest</a:t>
            </a:r>
            <a:r>
              <a:rPr lang="es-CO" dirty="0"/>
              <a:t>, /api/</a:t>
            </a:r>
            <a:r>
              <a:rPr lang="es-CO" dirty="0" err="1"/>
              <a:t>plants</a:t>
            </a:r>
            <a:r>
              <a:rPr lang="es-CO" dirty="0"/>
              <a:t>, /api/</a:t>
            </a:r>
            <a:r>
              <a:rPr lang="es-CO" dirty="0" err="1"/>
              <a:t>device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Es útil por su </a:t>
            </a:r>
            <a:r>
              <a:rPr lang="es-CO" b="1" dirty="0"/>
              <a:t>universalidad y flexibilidad</a:t>
            </a:r>
            <a:r>
              <a:rPr lang="es-CO" dirty="0"/>
              <a:t>, ideal para </a:t>
            </a:r>
            <a:r>
              <a:rPr lang="es-CO" dirty="0" err="1"/>
              <a:t>APIs</a:t>
            </a:r>
            <a:r>
              <a:rPr lang="es-CO" dirty="0"/>
              <a:t> REST.</a:t>
            </a:r>
          </a:p>
          <a:p>
            <a:pPr marL="514350" indent="-514350">
              <a:buFont typeface="+mj-lt"/>
              <a:buAutoNum type="arabicPeriod"/>
            </a:pPr>
            <a:r>
              <a:rPr lang="es-CO" b="1" dirty="0"/>
              <a:t>MQTT</a:t>
            </a:r>
          </a:p>
          <a:p>
            <a:pPr lvl="1"/>
            <a:r>
              <a:rPr lang="es-CO" dirty="0"/>
              <a:t>Usado entre </a:t>
            </a:r>
            <a:r>
              <a:rPr lang="es-CO" b="1" dirty="0"/>
              <a:t>ESP32, </a:t>
            </a:r>
            <a:r>
              <a:rPr lang="es-CO" b="1" dirty="0" err="1"/>
              <a:t>broker</a:t>
            </a:r>
            <a:r>
              <a:rPr lang="es-CO" b="1" dirty="0"/>
              <a:t> </a:t>
            </a:r>
            <a:r>
              <a:rPr lang="es-CO" b="1" dirty="0" err="1"/>
              <a:t>Mosquitto</a:t>
            </a:r>
            <a:r>
              <a:rPr lang="es-CO" b="1" dirty="0"/>
              <a:t> y </a:t>
            </a:r>
            <a:r>
              <a:rPr lang="es-CO" b="1" dirty="0" err="1"/>
              <a:t>backend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El ESP32 publica en el tópico </a:t>
            </a:r>
            <a:r>
              <a:rPr lang="es-CO" dirty="0" err="1"/>
              <a:t>smartplant</a:t>
            </a:r>
            <a:r>
              <a:rPr lang="es-CO" dirty="0"/>
              <a:t>/</a:t>
            </a:r>
            <a:r>
              <a:rPr lang="es-CO" dirty="0" err="1"/>
              <a:t>observations</a:t>
            </a:r>
            <a:r>
              <a:rPr lang="es-CO" dirty="0"/>
              <a:t>.</a:t>
            </a:r>
          </a:p>
          <a:p>
            <a:pPr lvl="1"/>
            <a:r>
              <a:rPr lang="es-CO" dirty="0"/>
              <a:t>El </a:t>
            </a:r>
            <a:r>
              <a:rPr lang="es-CO" dirty="0" err="1"/>
              <a:t>backend</a:t>
            </a:r>
            <a:r>
              <a:rPr lang="es-CO" dirty="0"/>
              <a:t> se suscribe y procesa mensajes en tiempo casi real.</a:t>
            </a:r>
          </a:p>
          <a:p>
            <a:pPr lvl="1"/>
            <a:r>
              <a:rPr lang="es-CO" dirty="0"/>
              <a:t>Es </a:t>
            </a:r>
            <a:r>
              <a:rPr lang="es-CO" b="1" dirty="0"/>
              <a:t>ligero y eficiente</a:t>
            </a:r>
            <a:r>
              <a:rPr lang="es-CO" dirty="0"/>
              <a:t>, ideal para </a:t>
            </a:r>
            <a:r>
              <a:rPr lang="es-CO" dirty="0" err="1"/>
              <a:t>IoT</a:t>
            </a:r>
            <a:r>
              <a:rPr lang="es-CO" dirty="0"/>
              <a:t> y actualizaciones periódicas con poco consumo de red.</a:t>
            </a:r>
            <a:endParaRPr lang="es-CO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70042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Tecnologías y herramientas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381" y="2406834"/>
            <a:ext cx="10295238" cy="2573380"/>
          </a:xfrm>
        </p:spPr>
        <p:txBody>
          <a:bodyPr>
            <a:normAutofit/>
          </a:bodyPr>
          <a:lstStyle/>
          <a:p>
            <a:r>
              <a:rPr lang="es-CO" b="1" dirty="0"/>
              <a:t>Python + </a:t>
            </a:r>
            <a:r>
              <a:rPr lang="es-CO" b="1" dirty="0" err="1"/>
              <a:t>Flask</a:t>
            </a:r>
            <a:r>
              <a:rPr lang="es-CO" dirty="0"/>
              <a:t> para la API REST y la lógica del </a:t>
            </a:r>
            <a:r>
              <a:rPr lang="es-CO" dirty="0" err="1"/>
              <a:t>backend</a:t>
            </a:r>
            <a:r>
              <a:rPr lang="es-CO" dirty="0"/>
              <a:t>.</a:t>
            </a:r>
          </a:p>
          <a:p>
            <a:r>
              <a:rPr lang="es-CO" b="1" dirty="0" err="1"/>
              <a:t>Mosquitto</a:t>
            </a:r>
            <a:r>
              <a:rPr lang="es-CO" dirty="0"/>
              <a:t> como </a:t>
            </a:r>
            <a:r>
              <a:rPr lang="es-CO" dirty="0" err="1"/>
              <a:t>broker</a:t>
            </a:r>
            <a:r>
              <a:rPr lang="es-CO" dirty="0"/>
              <a:t> MQTT.</a:t>
            </a:r>
          </a:p>
          <a:p>
            <a:r>
              <a:rPr lang="es-CO" b="1" dirty="0" err="1"/>
              <a:t>PlatformIO</a:t>
            </a:r>
            <a:r>
              <a:rPr lang="es-CO" dirty="0"/>
              <a:t> para el desarrollo embebido en ESP32.</a:t>
            </a:r>
          </a:p>
          <a:p>
            <a:r>
              <a:rPr lang="es-CO" b="1" dirty="0" err="1"/>
              <a:t>paho-mqtt</a:t>
            </a:r>
            <a:r>
              <a:rPr lang="es-CO" dirty="0"/>
              <a:t> en el </a:t>
            </a:r>
            <a:r>
              <a:rPr lang="es-CO" dirty="0" err="1"/>
              <a:t>backend</a:t>
            </a:r>
            <a:r>
              <a:rPr lang="es-CO" dirty="0"/>
              <a:t> para la suscripción al tópico MQTT.</a:t>
            </a:r>
          </a:p>
          <a:p>
            <a:r>
              <a:rPr lang="es-CO" b="1" dirty="0"/>
              <a:t>HTML, CSS, JavaScript</a:t>
            </a:r>
            <a:r>
              <a:rPr lang="es-CO" dirty="0"/>
              <a:t> y </a:t>
            </a:r>
            <a:r>
              <a:rPr lang="es-CO" b="1" dirty="0"/>
              <a:t>Chart.js</a:t>
            </a:r>
            <a:r>
              <a:rPr lang="es-CO" dirty="0"/>
              <a:t> para el </a:t>
            </a:r>
            <a:r>
              <a:rPr lang="es-CO" dirty="0" err="1"/>
              <a:t>dashboard</a:t>
            </a:r>
            <a:r>
              <a:rPr lang="es-CO" dirty="0"/>
              <a:t> web.</a:t>
            </a:r>
          </a:p>
        </p:txBody>
      </p:sp>
    </p:spTree>
    <p:extLst>
      <p:ext uri="{BB962C8B-B14F-4D97-AF65-F5344CB8AC3E}">
        <p14:creationId xmlns:p14="http://schemas.microsoft.com/office/powerpoint/2010/main" val="4038712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08CDB-AF99-23DA-5783-49C6FB10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Trabajos a Futuro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8B7842-095A-A953-5B16-4B0D2F9E9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381" y="2243548"/>
            <a:ext cx="10295238" cy="2883623"/>
          </a:xfrm>
        </p:spPr>
        <p:txBody>
          <a:bodyPr>
            <a:normAutofit/>
          </a:bodyPr>
          <a:lstStyle/>
          <a:p>
            <a:r>
              <a:rPr lang="es-ES" dirty="0"/>
              <a:t>Integrar un </a:t>
            </a:r>
            <a:r>
              <a:rPr lang="es-ES" b="1" dirty="0"/>
              <a:t>sensor de luz calibrado</a:t>
            </a:r>
            <a:r>
              <a:rPr lang="es-ES" dirty="0"/>
              <a:t> (BH1750, TSL2561) para obtener lux físicos más precisos.</a:t>
            </a:r>
          </a:p>
          <a:p>
            <a:r>
              <a:rPr lang="es-ES" dirty="0"/>
              <a:t>Añadir </a:t>
            </a:r>
            <a:r>
              <a:rPr lang="es-ES" b="1" dirty="0"/>
              <a:t>actuadores</a:t>
            </a:r>
            <a:r>
              <a:rPr lang="es-ES" dirty="0"/>
              <a:t> (bomba de riego, ventilador) controlados automáticamente según las reglas semánticas. </a:t>
            </a:r>
          </a:p>
          <a:p>
            <a:r>
              <a:rPr lang="es-ES" dirty="0"/>
              <a:t>Desarrollar una versión </a:t>
            </a:r>
            <a:r>
              <a:rPr lang="es-ES" b="1" dirty="0"/>
              <a:t>móvil/PWA</a:t>
            </a:r>
            <a:r>
              <a:rPr lang="es-ES" dirty="0"/>
              <a:t> del </a:t>
            </a:r>
            <a:r>
              <a:rPr lang="es-ES" dirty="0" err="1"/>
              <a:t>dashboard</a:t>
            </a:r>
            <a:r>
              <a:rPr lang="es-ES" dirty="0"/>
              <a:t> para monitorear plantas desde el celular.</a:t>
            </a:r>
          </a:p>
        </p:txBody>
      </p:sp>
    </p:spTree>
    <p:extLst>
      <p:ext uri="{BB962C8B-B14F-4D97-AF65-F5344CB8AC3E}">
        <p14:creationId xmlns:p14="http://schemas.microsoft.com/office/powerpoint/2010/main" val="1751262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7F64CA-81B6-74E7-296B-940076AB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2E5E0-5EF3-F92A-838C-F944990C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341"/>
            <a:ext cx="9662984" cy="1325563"/>
          </a:xfrm>
        </p:spPr>
        <p:txBody>
          <a:bodyPr>
            <a:normAutofit/>
          </a:bodyPr>
          <a:lstStyle/>
          <a:p>
            <a:r>
              <a:rPr lang="es-ES" sz="4000" dirty="0">
                <a:solidFill>
                  <a:srgbClr val="143393"/>
                </a:solidFill>
                <a:latin typeface="Franklin Gothic Medium" panose="020B0603020102020204" pitchFamily="34" charset="0"/>
              </a:rPr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5C2C56-1C52-5F1C-EFA2-920214322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8904"/>
            <a:ext cx="10478729" cy="4667650"/>
          </a:xfrm>
        </p:spPr>
        <p:txBody>
          <a:bodyPr>
            <a:normAutofit fontScale="92500"/>
          </a:bodyPr>
          <a:lstStyle/>
          <a:p>
            <a:r>
              <a:rPr lang="es-ES" dirty="0"/>
              <a:t>Se implementó un </a:t>
            </a:r>
            <a:r>
              <a:rPr lang="es-ES" b="1" dirty="0"/>
              <a:t>sistema </a:t>
            </a:r>
            <a:r>
              <a:rPr lang="es-ES" b="1" dirty="0" err="1"/>
              <a:t>IoT</a:t>
            </a:r>
            <a:r>
              <a:rPr lang="es-ES" b="1" dirty="0"/>
              <a:t> semántico completo</a:t>
            </a:r>
            <a:r>
              <a:rPr lang="es-ES" dirty="0"/>
              <a:t> para el monitoreo de plantas de interior.</a:t>
            </a:r>
          </a:p>
          <a:p>
            <a:r>
              <a:rPr lang="es-ES" dirty="0"/>
              <a:t>La combinación de </a:t>
            </a:r>
            <a:r>
              <a:rPr lang="es-ES" b="1" dirty="0"/>
              <a:t>ESP32 + </a:t>
            </a:r>
            <a:r>
              <a:rPr lang="es-ES" b="1" dirty="0" err="1"/>
              <a:t>Flask</a:t>
            </a:r>
            <a:r>
              <a:rPr lang="es-ES" b="1" dirty="0"/>
              <a:t> + MQTT + SSN/SOSA + </a:t>
            </a:r>
            <a:r>
              <a:rPr lang="es-ES" b="1" dirty="0" err="1"/>
              <a:t>dashboard</a:t>
            </a:r>
            <a:r>
              <a:rPr lang="es-ES" b="1" dirty="0"/>
              <a:t> web</a:t>
            </a:r>
            <a:r>
              <a:rPr lang="es-ES" dirty="0"/>
              <a:t> demostró ser una arquitectura viable y extensible.</a:t>
            </a:r>
          </a:p>
          <a:p>
            <a:r>
              <a:rPr lang="es-ES" dirty="0"/>
              <a:t>El modelado semántico permite pasar de “solo números” a </a:t>
            </a:r>
            <a:r>
              <a:rPr lang="es-ES" b="1" dirty="0"/>
              <a:t>estados interpretables y recomendaciones</a:t>
            </a:r>
            <a:r>
              <a:rPr lang="es-ES" dirty="0"/>
              <a:t> para el usuario.</a:t>
            </a:r>
          </a:p>
          <a:p>
            <a:r>
              <a:rPr lang="es-ES" dirty="0"/>
              <a:t>Aunque la medición de luz se basa en un LDR sencillo, el enfoque de </a:t>
            </a:r>
            <a:r>
              <a:rPr lang="es-ES" b="1" dirty="0"/>
              <a:t>porcentaje relativo</a:t>
            </a:r>
            <a:r>
              <a:rPr lang="es-ES" dirty="0"/>
              <a:t> es suficiente para apoyar decisiones de cuidado.</a:t>
            </a:r>
          </a:p>
          <a:p>
            <a:r>
              <a:rPr lang="es-ES" dirty="0" err="1"/>
              <a:t>SmartPlant</a:t>
            </a:r>
            <a:r>
              <a:rPr lang="es-ES" dirty="0"/>
              <a:t> sienta las bases para futuros sistemas de </a:t>
            </a:r>
            <a:r>
              <a:rPr lang="es-ES" b="1" dirty="0"/>
              <a:t>jardines inteligentes e invernaderos</a:t>
            </a:r>
            <a:r>
              <a:rPr lang="es-ES" dirty="0"/>
              <a:t> basados en ontologías y datos enlazados.</a:t>
            </a:r>
          </a:p>
        </p:txBody>
      </p:sp>
    </p:spTree>
    <p:extLst>
      <p:ext uri="{BB962C8B-B14F-4D97-AF65-F5344CB8AC3E}">
        <p14:creationId xmlns:p14="http://schemas.microsoft.com/office/powerpoint/2010/main" val="130592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2635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744</Words>
  <Application>Microsoft Office PowerPoint</Application>
  <PresentationFormat>Panorámica</PresentationFormat>
  <Paragraphs>59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Franklin Gothic Book</vt:lpstr>
      <vt:lpstr>Franklin Gothic Medium</vt:lpstr>
      <vt:lpstr>Tema de Office</vt:lpstr>
      <vt:lpstr>Presentación de PowerPoint</vt:lpstr>
      <vt:lpstr>Presentación de PowerPoint</vt:lpstr>
      <vt:lpstr>Introducción</vt:lpstr>
      <vt:lpstr>Requeriemiento de Usuario</vt:lpstr>
      <vt:lpstr>Arquitectura de Desarrollo</vt:lpstr>
      <vt:lpstr>Protocolo de comunicación</vt:lpstr>
      <vt:lpstr>Tecnologías y herramientas</vt:lpstr>
      <vt:lpstr>Trabajos a Futuro</vt:lpstr>
      <vt:lpstr>Conclusiones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LANDY VIVIANA BEDOYA DIAZ</dc:creator>
  <cp:lastModifiedBy>SANTIAGO ALEXANDER DORADO GOMEZ</cp:lastModifiedBy>
  <cp:revision>5</cp:revision>
  <dcterms:created xsi:type="dcterms:W3CDTF">2024-06-26T19:15:17Z</dcterms:created>
  <dcterms:modified xsi:type="dcterms:W3CDTF">2025-12-10T05:12:01Z</dcterms:modified>
</cp:coreProperties>
</file>